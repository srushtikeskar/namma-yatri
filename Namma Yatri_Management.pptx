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4"/>
  </p:sldMasterIdLst>
  <p:sldIdLst>
    <p:sldId id="257" r:id="rId5"/>
    <p:sldId id="259" r:id="rId6"/>
    <p:sldId id="273" r:id="rId7"/>
    <p:sldId id="278" r:id="rId8"/>
    <p:sldId id="266" r:id="rId9"/>
    <p:sldId id="268" r:id="rId10"/>
    <p:sldId id="275" r:id="rId11"/>
    <p:sldId id="277" r:id="rId12"/>
    <p:sldId id="263" r:id="rId13"/>
    <p:sldId id="265" r:id="rId14"/>
    <p:sldId id="271" r:id="rId15"/>
    <p:sldId id="25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8EC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>
        <p:scale>
          <a:sx n="63" d="100"/>
          <a:sy n="63" d="100"/>
        </p:scale>
        <p:origin x="8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84DA70-C731-4C70-880D-CCD4705E623C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4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53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30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16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77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360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08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28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935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0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477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62D6E202-B606-4609-B914-27C9371A1F6D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51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4080" y="1087120"/>
            <a:ext cx="8961120" cy="1059429"/>
          </a:xfrm>
        </p:spPr>
        <p:txBody>
          <a:bodyPr>
            <a:normAutofit fontScale="90000"/>
          </a:bodyPr>
          <a:lstStyle/>
          <a:p>
            <a:pPr algn="r">
              <a:spcBef>
                <a:spcPts val="1800"/>
              </a:spcBef>
              <a:spcAft>
                <a:spcPts val="1200"/>
              </a:spcAft>
            </a:pPr>
            <a:r>
              <a:rPr lang="en-IN" sz="4800" b="1" i="0" dirty="0" err="1">
                <a:solidFill>
                  <a:srgbClr val="1F2328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Namma</a:t>
            </a:r>
            <a:r>
              <a:rPr lang="en-IN" sz="4800" b="1" i="0" dirty="0">
                <a:solidFill>
                  <a:srgbClr val="1F2328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Yatri data analysis</a:t>
            </a:r>
            <a:br>
              <a:rPr lang="en-IN" sz="4800" i="0" dirty="0">
                <a:solidFill>
                  <a:srgbClr val="1F2328"/>
                </a:solidFill>
                <a:effectLst/>
                <a:latin typeface="-apple-system"/>
                <a:cs typeface="Aharoni" panose="02010803020104030203" pitchFamily="2" charset="-79"/>
              </a:rPr>
            </a:br>
            <a:r>
              <a:rPr lang="en-IN" sz="1400" dirty="0">
                <a:solidFill>
                  <a:srgbClr val="1F23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-Data-Driven </a:t>
            </a:r>
            <a:r>
              <a:rPr lang="en-IN" sz="1400" i="0" dirty="0">
                <a:solidFill>
                  <a:srgbClr val="1F2328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insight &amp; strategic recommendations</a:t>
            </a:r>
            <a:r>
              <a:rPr lang="en-IN" sz="7200" b="1" i="0" dirty="0">
                <a:solidFill>
                  <a:srgbClr val="1F2328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en-IN" b="1" i="0" dirty="0">
              <a:solidFill>
                <a:srgbClr val="1F2328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0719" y="4000747"/>
            <a:ext cx="2179003" cy="1627893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Business Analysts: </a:t>
            </a:r>
          </a:p>
          <a:p>
            <a:pPr algn="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ZAYED SYED</a:t>
            </a:r>
          </a:p>
          <a:p>
            <a:pPr algn="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GSS VINAY</a:t>
            </a:r>
          </a:p>
          <a:p>
            <a:pPr algn="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SRUSHTI KESKAR</a:t>
            </a:r>
          </a:p>
          <a:p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9D2BB8D5-3F62-D79C-66F1-A23881BB5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37" y="0"/>
            <a:ext cx="969963" cy="969963"/>
          </a:xfrm>
          <a:prstGeom prst="rect">
            <a:avLst/>
          </a:prstGeom>
        </p:spPr>
      </p:pic>
      <p:pic>
        <p:nvPicPr>
          <p:cNvPr id="8" name="Picture 7" descr="A person holding a cellphone&#10;&#10;AI-generated content may be incorrect.">
            <a:extLst>
              <a:ext uri="{FF2B5EF4-FFF2-40B4-BE49-F238E27FC236}">
                <a16:creationId xmlns:a16="http://schemas.microsoft.com/office/drawing/2014/main" id="{F82D7FDE-0E3B-2E6E-BB0C-EA4526A92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77" y="901509"/>
            <a:ext cx="1959060" cy="2468416"/>
          </a:xfrm>
          <a:prstGeom prst="rect">
            <a:avLst/>
          </a:prstGeom>
        </p:spPr>
      </p:pic>
      <p:pic>
        <p:nvPicPr>
          <p:cNvPr id="12" name="Picture 11" descr="A vehicle with a sign in front of it&#10;&#10;AI-generated content may be incorrect.">
            <a:extLst>
              <a:ext uri="{FF2B5EF4-FFF2-40B4-BE49-F238E27FC236}">
                <a16:creationId xmlns:a16="http://schemas.microsoft.com/office/drawing/2014/main" id="{45F66BEF-8892-A400-5103-5D3249168B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77" y="3909307"/>
            <a:ext cx="3853470" cy="246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07D6-78B4-4AF7-B1A6-56F63A4E8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About </a:t>
            </a:r>
            <a:r>
              <a:rPr lang="en-IN" dirty="0" err="1">
                <a:latin typeface="Aharoni" panose="02010803020104030203" pitchFamily="2" charset="-79"/>
                <a:cs typeface="Aharoni" panose="02010803020104030203" pitchFamily="2" charset="-79"/>
              </a:rPr>
              <a:t>Namma</a:t>
            </a:r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 -Yatri</a:t>
            </a:r>
            <a:r>
              <a:rPr lang="en-IN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DA7B7-739B-C32C-F65B-FC5E777C8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720" y="1644478"/>
            <a:ext cx="9872871" cy="40386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rgbClr val="1F2328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Namma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Yatri is a Direct-to-Driver open mobility platform developed by </a:t>
            </a:r>
            <a:r>
              <a:rPr lang="en-GB" dirty="0" err="1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Juspay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designed to power the next generation of mobility applications in India. Since its official launch in January 2023, it has become Bengaluru’s most loved auto-rickshaw app. 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Let me know if you'd like it to sound more formal, promotional, or tailored for a specific audience (e.g., investors, users, media).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90FF7AF1-899F-855E-5551-703DDE4EE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97" y="139859"/>
            <a:ext cx="969963" cy="969963"/>
          </a:xfrm>
          <a:prstGeom prst="rect">
            <a:avLst/>
          </a:prstGeom>
        </p:spPr>
      </p:pic>
      <p:pic>
        <p:nvPicPr>
          <p:cNvPr id="10" name="Picture 9" descr="A group of small cars parked in a row&#10;&#10;AI-generated content may be incorrect.">
            <a:extLst>
              <a:ext uri="{FF2B5EF4-FFF2-40B4-BE49-F238E27FC236}">
                <a16:creationId xmlns:a16="http://schemas.microsoft.com/office/drawing/2014/main" id="{B37E49AD-FFBD-6333-2197-C01A7EC8F6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4892041"/>
            <a:ext cx="2631439" cy="1453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75329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587A7-5196-F000-4AC6-C88924686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440A4-88F4-3C3B-FBD1-5204F03BD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12097"/>
            <a:ext cx="9872871" cy="4038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Project Overview: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Analysis of </a:t>
            </a:r>
            <a:r>
              <a:rPr lang="en-US" altLang="en-US" dirty="0" err="1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Namma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Yatri data to derive actionable insights.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Focus on improving operational efficiency and marketing strategies.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Data-driven recommendations for business growth.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Key Objective: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Understand user behavior, ride performance, and revenue drivers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Tools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: Power BI, Data Modelling, Visualization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Outcome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: Actionable insights and strategy suggestions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endParaRPr lang="en-IN" dirty="0"/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6A8C14FD-9DE8-1525-8231-2087CDF68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7" y="33178"/>
            <a:ext cx="969963" cy="969963"/>
          </a:xfrm>
          <a:prstGeom prst="rect">
            <a:avLst/>
          </a:prstGeom>
        </p:spPr>
      </p:pic>
      <p:pic>
        <p:nvPicPr>
          <p:cNvPr id="5" name="Picture 4" descr="A group of small cars parked in a row&#10;&#10;AI-generated content may be incorrect.">
            <a:extLst>
              <a:ext uri="{FF2B5EF4-FFF2-40B4-BE49-F238E27FC236}">
                <a16:creationId xmlns:a16="http://schemas.microsoft.com/office/drawing/2014/main" id="{F10A6135-D354-4F31-B9F0-99EBD7053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0" y="5024121"/>
            <a:ext cx="2631439" cy="1453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4013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26C0A-3437-5B58-493F-41E24B48A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E037-59F0-19DC-6C88-9715E1F0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1756"/>
            <a:ext cx="10058400" cy="1714319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Business Context &amp; 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7A19A4-3D9C-7A76-9038-B9D9E71A06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86284"/>
            <a:ext cx="9585063" cy="889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Rising ride demand but inconsistent performance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Need for data-backed operational and marketing insights</a:t>
            </a:r>
          </a:p>
        </p:txBody>
      </p:sp>
      <p:pic>
        <p:nvPicPr>
          <p:cNvPr id="3" name="Picture 2" descr="A group of small cars parked in a row&#10;&#10;AI-generated content may be incorrect.">
            <a:extLst>
              <a:ext uri="{FF2B5EF4-FFF2-40B4-BE49-F238E27FC236}">
                <a16:creationId xmlns:a16="http://schemas.microsoft.com/office/drawing/2014/main" id="{D8046E6A-7286-DCAA-C45E-EA1AF92B6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0" y="5024121"/>
            <a:ext cx="2631439" cy="1453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DD28C3AB-168E-EBC5-C99E-767776EBE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38178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0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15C-7790-7E45-12CE-A27836CC3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97280"/>
            <a:ext cx="10058400" cy="1118795"/>
          </a:xfrm>
        </p:spPr>
        <p:txBody>
          <a:bodyPr>
            <a:normAutofit/>
          </a:bodyPr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Data Cleaning and Integration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3AF995-0417-6E1F-0AF7-B06536DB0E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627765"/>
            <a:ext cx="9585063" cy="2895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Imported and joined multiple tables in Tableau/Power BI.  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Ensured data accuracy by resolving inconsistencies.  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Created calculated fields for relevant analysis </a:t>
            </a:r>
          </a:p>
          <a:p>
            <a:pPr>
              <a:buFont typeface="Arial" panose="020B0604020202020204" pitchFamily="34" charset="0"/>
              <a:buChar char="•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200" dirty="0"/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" name="Picture 2" descr="A group of small cars parked in a row&#10;&#10;AI-generated content may be incorrect.">
            <a:extLst>
              <a:ext uri="{FF2B5EF4-FFF2-40B4-BE49-F238E27FC236}">
                <a16:creationId xmlns:a16="http://schemas.microsoft.com/office/drawing/2014/main" id="{52CBFA08-6FCF-994E-28FF-9A1920A55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0" y="5024121"/>
            <a:ext cx="2631439" cy="1453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0004ACFF-95BF-1713-4B74-69B42622B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38178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0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5963-2A38-BFA5-5A7E-720E599B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97636"/>
            <a:ext cx="10058400" cy="959816"/>
          </a:xfrm>
        </p:spPr>
        <p:txBody>
          <a:bodyPr>
            <a:normAutofit/>
          </a:bodyPr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Ride Demand</a:t>
            </a:r>
            <a:endParaRPr lang="en-IN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A6F09-9C3B-7EE2-F4AB-8E62214B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57452"/>
            <a:ext cx="5314278" cy="4871023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From the graphs we can observe: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Highest number of trips have been taken between 12am to 1am at night and therefore, highest sum of fare.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Lowest demand is around 11pm to 12pm.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At around 2pm in the afternoon, the trips are for higher distance compared to the rest of day.</a:t>
            </a:r>
          </a:p>
          <a:p>
            <a:pPr marL="502920" indent="-457200">
              <a:buFont typeface="+mj-lt"/>
              <a:buAutoNum type="arabicPeriod"/>
            </a:pPr>
            <a:endParaRPr lang="en-US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502920" indent="-457200">
              <a:buAutoNum type="arabicPeriod"/>
            </a:pPr>
            <a:endParaRPr lang="en-US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9D4400-849D-44C2-EE7B-EE015190EDAF}"/>
              </a:ext>
            </a:extLst>
          </p:cNvPr>
          <p:cNvGrpSpPr/>
          <p:nvPr/>
        </p:nvGrpSpPr>
        <p:grpSpPr>
          <a:xfrm>
            <a:off x="934720" y="1143697"/>
            <a:ext cx="4583356" cy="5274468"/>
            <a:chOff x="699671" y="1156745"/>
            <a:chExt cx="4583356" cy="527446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AA51841-EE1E-4604-C475-4DE0EC508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9671" y="1156745"/>
              <a:ext cx="4583356" cy="1641765"/>
            </a:xfrm>
            <a:prstGeom prst="rect">
              <a:avLst/>
            </a:prstGeom>
            <a:ln w="12700" cap="sq">
              <a:solidFill>
                <a:schemeClr val="tx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24023E7-DDB5-F2F5-695C-F7FE70EF4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671" y="2899765"/>
              <a:ext cx="4583356" cy="1877400"/>
            </a:xfrm>
            <a:prstGeom prst="rect">
              <a:avLst/>
            </a:prstGeom>
            <a:ln w="12700" cap="sq">
              <a:solidFill>
                <a:schemeClr val="tx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9B56579-A9A1-FE91-4E04-C153483FC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671" y="4878421"/>
              <a:ext cx="4583356" cy="1552792"/>
            </a:xfrm>
            <a:prstGeom prst="rect">
              <a:avLst/>
            </a:prstGeom>
            <a:ln w="12700" cap="sq">
              <a:solidFill>
                <a:schemeClr val="tx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pic>
        <p:nvPicPr>
          <p:cNvPr id="12" name="Picture 11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649733A8-A4C3-8339-EC81-B3C703BECE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40" y="0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32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9A6A-BB7C-FAC7-9342-EC9C6790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C41F0-374B-8982-4D1E-F49D6A4E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Payment Method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F544BD-EE33-015E-E930-721EE5311A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4098" y="2493900"/>
            <a:ext cx="82403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E30F84-DCEB-53B2-AA18-F633A8D8C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207" y="1955800"/>
            <a:ext cx="5877745" cy="3333315"/>
          </a:xfrm>
          <a:prstGeom prst="rect">
            <a:avLst/>
          </a:prstGeom>
          <a:ln w="127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2E1DC9-3161-1F08-82FB-A11E017218CF}"/>
              </a:ext>
            </a:extLst>
          </p:cNvPr>
          <p:cNvSpPr txBox="1"/>
          <p:nvPr/>
        </p:nvSpPr>
        <p:spPr>
          <a:xfrm>
            <a:off x="934720" y="2703792"/>
            <a:ext cx="45618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We can observe that all he payment methods are used almost equally by the travellers,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GB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But still, Credit card usage is higher as compared to any other payment method.</a:t>
            </a:r>
          </a:p>
          <a:p>
            <a:endParaRPr lang="en-GB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GB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" name="Picture 7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A32DD6C9-1E31-2DAA-0C20-263D8DBDD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38178"/>
            <a:ext cx="969963" cy="969963"/>
          </a:xfrm>
          <a:prstGeom prst="rect">
            <a:avLst/>
          </a:prstGeom>
        </p:spPr>
      </p:pic>
      <p:pic>
        <p:nvPicPr>
          <p:cNvPr id="9" name="Picture 8" descr="A group of small cars parked in a row&#10;&#10;AI-generated content may be incorrect.">
            <a:extLst>
              <a:ext uri="{FF2B5EF4-FFF2-40B4-BE49-F238E27FC236}">
                <a16:creationId xmlns:a16="http://schemas.microsoft.com/office/drawing/2014/main" id="{52F533E0-2232-B57C-AC61-D791BF5890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841" y="5434991"/>
            <a:ext cx="1930399" cy="10660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33653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3CF3-C17C-2801-0F1A-C6E682C1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02D7-19D2-BBB7-CAB9-B69BC0EA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Trip Trends Across Zones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963CDC-E3CA-672C-E978-795448BE4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6409" y="2303146"/>
            <a:ext cx="8508702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Mahadevapura and Bommanahalli - heavy usage during morning hours.</a:t>
            </a:r>
          </a:p>
          <a:p>
            <a:pPr marL="4572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Bangalore South: steady ride pattern throughout the day.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v"/>
            </a:pPr>
            <a:endParaRPr lang="en-US" altLang="en-US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Ramanagaram: peaks in the night.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387B7646-6D3A-EAA3-61A2-6EB39257C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38178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12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D43C-E48B-C835-D069-DDAE4FE6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680" y="179624"/>
            <a:ext cx="10058400" cy="1111891"/>
          </a:xfrm>
        </p:spPr>
        <p:txBody>
          <a:bodyPr>
            <a:normAutofit/>
          </a:bodyPr>
          <a:lstStyle/>
          <a:p>
            <a:pPr algn="ctr"/>
            <a:r>
              <a:rPr lang="en-US" b="1" i="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Power BI Dashboard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ADDA15-B9C4-0040-62D1-9CA41AE4DC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83" t="24223" r="22583" b="16889"/>
          <a:stretch/>
        </p:blipFill>
        <p:spPr>
          <a:xfrm>
            <a:off x="609600" y="1166431"/>
            <a:ext cx="10972800" cy="5318905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3911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89ABC-AA83-AA72-55A2-06107EB3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23271"/>
            <a:ext cx="10058400" cy="1450757"/>
          </a:xfrm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Analysis of Cancellations and Successful Rides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7F903-18F9-5979-C3D9-7DD36C03A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58BB67-6AE9-B8AC-9D02-D392BF232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50" t="37778" r="23000" b="17481"/>
          <a:stretch/>
        </p:blipFill>
        <p:spPr>
          <a:xfrm>
            <a:off x="4531360" y="2542540"/>
            <a:ext cx="7162800" cy="3068320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2B4F75-0CE0-EDF3-DF56-B35291A08ADB}"/>
              </a:ext>
            </a:extLst>
          </p:cNvPr>
          <p:cNvSpPr txBox="1"/>
          <p:nvPr/>
        </p:nvSpPr>
        <p:spPr>
          <a:xfrm>
            <a:off x="497840" y="2421134"/>
            <a:ext cx="39319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We can see from the  graphs, that the cancellation done by drivers and the customers is almost equal.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Also, the customers have gone ahead with the trip instead of searching for quotes.</a:t>
            </a:r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1155E554-A446-AAFB-E7C2-D99FF0493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38178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409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72D7F-D2E8-EB5E-993D-EEE481532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3D051-87F5-B90E-3053-CAB1CC450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Promote the quote search feature.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Incentivize completion and improve communication.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Implement cancellation reason tracking and penalties.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Focus on high-cancellation locations and predictive alerts. </a:t>
            </a:r>
          </a:p>
          <a:p>
            <a:endParaRPr lang="en-IN" dirty="0"/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95388A9-B776-F0EB-C4F1-627577493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38178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940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 algn="ctr"/>
            <a:br>
              <a:rPr lang="en-US" sz="4800" i="1" dirty="0">
                <a:solidFill>
                  <a:srgbClr val="FFFFFF"/>
                </a:solidFill>
              </a:rPr>
            </a:br>
            <a:br>
              <a:rPr lang="en-US" sz="4800" i="1" dirty="0">
                <a:solidFill>
                  <a:srgbClr val="FFFFFF"/>
                </a:solidFill>
              </a:rPr>
            </a:br>
            <a:r>
              <a:rPr lang="en-US" sz="4800" i="1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 You</a:t>
            </a:r>
            <a:br>
              <a:rPr lang="en-US" sz="4800" i="1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n-US" sz="4800" i="1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800" i="1" dirty="0">
                <a:solidFill>
                  <a:srgbClr val="FFFFFF"/>
                </a:solidFill>
              </a:rPr>
              <a:t>						</a:t>
            </a:r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A985784E-5D23-F478-24EA-BEC7D4250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38178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1278</TotalTime>
  <Words>421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Aharoni</vt:lpstr>
      <vt:lpstr>-apple-system</vt:lpstr>
      <vt:lpstr>Arial</vt:lpstr>
      <vt:lpstr>Corbel</vt:lpstr>
      <vt:lpstr>Wingdings</vt:lpstr>
      <vt:lpstr>Basis</vt:lpstr>
      <vt:lpstr>Namma Yatri data analysis -Data-Driven insight &amp; strategic recommendations </vt:lpstr>
      <vt:lpstr>About Namma -Yatri </vt:lpstr>
      <vt:lpstr>Executive Summary</vt:lpstr>
      <vt:lpstr> Business Context &amp; Problem Statement </vt:lpstr>
      <vt:lpstr>Data Cleaning and Integration</vt:lpstr>
      <vt:lpstr>Ride Demand</vt:lpstr>
      <vt:lpstr>Payment Method Analysis</vt:lpstr>
      <vt:lpstr>Trip Trends Across Zones</vt:lpstr>
      <vt:lpstr>Power BI Dashboard</vt:lpstr>
      <vt:lpstr>Analysis of Cancellations and Successful Rides</vt:lpstr>
      <vt:lpstr>Strategic Recommendations</vt:lpstr>
      <vt:lpstr>  Thank You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Kavita Azad</dc:creator>
  <cp:lastModifiedBy>srushti keskar</cp:lastModifiedBy>
  <cp:revision>98</cp:revision>
  <dcterms:created xsi:type="dcterms:W3CDTF">2025-04-15T13:39:37Z</dcterms:created>
  <dcterms:modified xsi:type="dcterms:W3CDTF">2025-05-22T13:18:04Z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