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</p:sldMasterIdLst>
  <p:sldIdLst>
    <p:sldId id="257" r:id="rId5"/>
    <p:sldId id="283" r:id="rId6"/>
    <p:sldId id="273" r:id="rId7"/>
    <p:sldId id="284" r:id="rId8"/>
    <p:sldId id="266" r:id="rId9"/>
    <p:sldId id="285" r:id="rId10"/>
    <p:sldId id="268" r:id="rId11"/>
    <p:sldId id="275" r:id="rId12"/>
    <p:sldId id="277" r:id="rId13"/>
    <p:sldId id="278" r:id="rId14"/>
    <p:sldId id="279" r:id="rId15"/>
    <p:sldId id="286" r:id="rId16"/>
    <p:sldId id="287" r:id="rId17"/>
    <p:sldId id="263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84DA70-C731-4C70-880D-CCD4705E623C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36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030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634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06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119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04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59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14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0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97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0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2D6E202-B606-4609-B914-27C9371A1F6D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5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4080" y="1087120"/>
            <a:ext cx="8961120" cy="1059429"/>
          </a:xfrm>
        </p:spPr>
        <p:txBody>
          <a:bodyPr>
            <a:normAutofit fontScale="90000"/>
          </a:bodyPr>
          <a:lstStyle/>
          <a:p>
            <a:pPr algn="r">
              <a:spcBef>
                <a:spcPts val="1800"/>
              </a:spcBef>
              <a:spcAft>
                <a:spcPts val="1200"/>
              </a:spcAft>
            </a:pPr>
            <a:r>
              <a:rPr lang="en-IN" sz="4800" b="1" i="0" dirty="0" err="1">
                <a:solidFill>
                  <a:srgbClr val="1F2328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Namma</a:t>
            </a:r>
            <a:r>
              <a:rPr lang="en-IN" sz="4800" b="1" i="0" dirty="0">
                <a:solidFill>
                  <a:srgbClr val="1F2328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Yatri data analysis</a:t>
            </a:r>
            <a:br>
              <a:rPr lang="en-IN" sz="4800" i="0" dirty="0">
                <a:solidFill>
                  <a:srgbClr val="1F2328"/>
                </a:solidFill>
                <a:effectLst/>
                <a:latin typeface="-apple-system"/>
                <a:cs typeface="Aharoni" panose="02010803020104030203" pitchFamily="2" charset="-79"/>
              </a:rPr>
            </a:br>
            <a:r>
              <a:rPr lang="en-IN" sz="1400" dirty="0">
                <a:solidFill>
                  <a:srgbClr val="1F2328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-Data-Driven </a:t>
            </a:r>
            <a:r>
              <a:rPr lang="en-IN" sz="1400" i="0" dirty="0">
                <a:solidFill>
                  <a:srgbClr val="1F2328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insight &amp; strategic recommendations</a:t>
            </a:r>
            <a:r>
              <a:rPr lang="en-IN" sz="7200" b="1" i="0" dirty="0">
                <a:solidFill>
                  <a:srgbClr val="1F2328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n-IN" b="1" i="0" dirty="0">
              <a:solidFill>
                <a:srgbClr val="1F2328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70719" y="4000747"/>
            <a:ext cx="2179003" cy="1627893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Business Analysts: </a:t>
            </a:r>
          </a:p>
          <a:p>
            <a:pPr algn="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ZAYED SYED</a:t>
            </a:r>
          </a:p>
          <a:p>
            <a:pPr algn="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GSS VINAY</a:t>
            </a:r>
          </a:p>
          <a:p>
            <a:pPr algn="r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SRUSHTI KESKAR</a:t>
            </a:r>
          </a:p>
          <a:p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9D2BB8D5-3F62-D79C-66F1-A23881BB5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37" y="0"/>
            <a:ext cx="969963" cy="969963"/>
          </a:xfrm>
          <a:prstGeom prst="rect">
            <a:avLst/>
          </a:prstGeom>
        </p:spPr>
      </p:pic>
      <p:pic>
        <p:nvPicPr>
          <p:cNvPr id="8" name="Picture 7" descr="A person holding a cellphone&#10;&#10;AI-generated content may be incorrect.">
            <a:extLst>
              <a:ext uri="{FF2B5EF4-FFF2-40B4-BE49-F238E27FC236}">
                <a16:creationId xmlns:a16="http://schemas.microsoft.com/office/drawing/2014/main" id="{F82D7FDE-0E3B-2E6E-BB0C-EA4526A92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77" y="901509"/>
            <a:ext cx="1959060" cy="2468416"/>
          </a:xfrm>
          <a:prstGeom prst="rect">
            <a:avLst/>
          </a:prstGeom>
        </p:spPr>
      </p:pic>
      <p:pic>
        <p:nvPicPr>
          <p:cNvPr id="12" name="Picture 11" descr="A vehicle with a sign in front of it&#10;&#10;AI-generated content may be incorrect.">
            <a:extLst>
              <a:ext uri="{FF2B5EF4-FFF2-40B4-BE49-F238E27FC236}">
                <a16:creationId xmlns:a16="http://schemas.microsoft.com/office/drawing/2014/main" id="{45F66BEF-8892-A400-5103-5D3249168B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77" y="3909307"/>
            <a:ext cx="3853470" cy="246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07D6-78B4-4AF7-B1A6-56F63A4E8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About </a:t>
            </a:r>
            <a:r>
              <a:rPr lang="en-IN" dirty="0" err="1">
                <a:latin typeface="Aharoni" panose="02010803020104030203" pitchFamily="2" charset="-79"/>
                <a:cs typeface="Aharoni" panose="02010803020104030203" pitchFamily="2" charset="-79"/>
              </a:rPr>
              <a:t>Namma</a:t>
            </a:r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 -Yatri</a:t>
            </a:r>
            <a:r>
              <a:rPr lang="en-IN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DA7B7-739B-C32C-F65B-FC5E777C8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720" y="1644478"/>
            <a:ext cx="9872871" cy="40386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Namma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Yatri is a Direct-to-Driver open mobility platform developed by </a:t>
            </a:r>
            <a:r>
              <a:rPr lang="en-GB" dirty="0" err="1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Juspay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designed to power the next generation of mobility applications in India. Since its official launch in January 2023, it has become Bengaluru’s most loved auto-rickshaw app. 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Let me know if you'd like it to sound more formal, promotional, or tailored for a specific audience (e.g., investors, users, media).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90FF7AF1-899F-855E-5551-703DDE4EE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97" y="139859"/>
            <a:ext cx="969963" cy="969963"/>
          </a:xfrm>
          <a:prstGeom prst="rect">
            <a:avLst/>
          </a:prstGeom>
        </p:spPr>
      </p:pic>
      <p:pic>
        <p:nvPicPr>
          <p:cNvPr id="10" name="Picture 9" descr="A group of small cars parked in a row&#10;&#10;AI-generated content may be incorrect.">
            <a:extLst>
              <a:ext uri="{FF2B5EF4-FFF2-40B4-BE49-F238E27FC236}">
                <a16:creationId xmlns:a16="http://schemas.microsoft.com/office/drawing/2014/main" id="{B37E49AD-FFBD-6333-2197-C01A7EC8F6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4892041"/>
            <a:ext cx="2631439" cy="1453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5233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587A7-5196-F000-4AC6-C88924686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Purpose 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440A4-88F4-3C3B-FBD1-5204F03BD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Project Overview: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Review of data analysis findings to inform technical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Focus on system optimization, feature enhancement, 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Translating insights into actionable development tasks.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Key Objective: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Understand user behavior, ride performance, and revenue drivers</a:t>
            </a:r>
          </a:p>
          <a:p>
            <a:pPr marL="0" indent="0">
              <a:buNone/>
            </a:pP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Outcome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Actionable insights and technical suggestions.</a:t>
            </a:r>
          </a:p>
          <a:p>
            <a:endParaRPr lang="en-IN" dirty="0"/>
          </a:p>
        </p:txBody>
      </p:sp>
      <p:pic>
        <p:nvPicPr>
          <p:cNvPr id="4" name="Picture 3" descr="A group of small cars parked in a row&#10;&#10;AI-generated content may be incorrect.">
            <a:extLst>
              <a:ext uri="{FF2B5EF4-FFF2-40B4-BE49-F238E27FC236}">
                <a16:creationId xmlns:a16="http://schemas.microsoft.com/office/drawing/2014/main" id="{732AF8FD-0C80-AEA8-F4EB-3B28BD0CA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80" y="5095241"/>
            <a:ext cx="2631439" cy="1453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E048416-2157-48CB-EB42-686457C26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3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2FA87-6A59-3D8B-241D-6B3F19EB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3978-0FD1-B736-1931-762EF93E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Purpose 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9DF03-8B9D-01F5-0913-4EC8DA3CE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Project Overview: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Review of data analysis findings to inform technical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Focus on system optimization, feature enhancement, 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Translating insights into actionable development tasks.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b="1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Key Objective: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Understand user behavior, ride performance, and revenue drivers</a:t>
            </a:r>
          </a:p>
          <a:p>
            <a:pPr marL="0" indent="0">
              <a:buNone/>
            </a:pP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Outcome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Actionable insights and technical suggestions.</a:t>
            </a:r>
          </a:p>
          <a:p>
            <a:endParaRPr lang="en-IN" dirty="0"/>
          </a:p>
        </p:txBody>
      </p:sp>
      <p:pic>
        <p:nvPicPr>
          <p:cNvPr id="4" name="Picture 3" descr="A group of small cars parked in a row&#10;&#10;AI-generated content may be incorrect.">
            <a:extLst>
              <a:ext uri="{FF2B5EF4-FFF2-40B4-BE49-F238E27FC236}">
                <a16:creationId xmlns:a16="http://schemas.microsoft.com/office/drawing/2014/main" id="{FE42EFC5-CAEC-A894-1F26-54A28E893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80" y="5115561"/>
            <a:ext cx="2631439" cy="1453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83A6582-B201-DB29-EB19-6528DC7D7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99219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4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515C-7790-7E45-12CE-A27836CC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01756"/>
            <a:ext cx="10058400" cy="1714319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Data Integration and Structure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3AF995-0417-6E1F-0AF7-B06536DB0E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43075"/>
            <a:ext cx="8842785" cy="3506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Overview of data sources and tables(Assembly, Duration, Payment, Trip Details, Trips) — A high-level summary of each dataset, its purpose, and its structure.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Explanation of data joins and relationships— Description of how the tables are connected, key join conditions, and the relational model used.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Discussion of data types and potential for normalization/optimization— Analysis of data types, schema design, and opportunities to enhance performance or reduce redundancy through normalization.</a:t>
            </a:r>
            <a:endParaRPr lang="en-US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3558ED24-AC97-8F7A-515D-AC7C99922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  <p:pic>
        <p:nvPicPr>
          <p:cNvPr id="5" name="Picture 4" descr="A group of small cars parked in a row&#10;&#10;AI-generated content may be incorrect.">
            <a:extLst>
              <a:ext uri="{FF2B5EF4-FFF2-40B4-BE49-F238E27FC236}">
                <a16:creationId xmlns:a16="http://schemas.microsoft.com/office/drawing/2014/main" id="{30F84C14-C6EA-84A5-FA59-480D2211E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80" y="5095241"/>
            <a:ext cx="2631439" cy="1453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9090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D2062-E8D3-2D76-7D25-E3982E21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F55C0-DB2B-7744-56C0-4FC6EC05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63600"/>
            <a:ext cx="10058400" cy="822960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Handling Peak Demand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958582-EFF0-B2AA-7D55-11707DEB25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74463"/>
            <a:ext cx="8842785" cy="3686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b="1" dirty="0">
                <a:latin typeface="Aharoni" panose="02010803020104030203" pitchFamily="2" charset="-79"/>
                <a:cs typeface="Aharoni" panose="02010803020104030203" pitchFamily="2" charset="-79"/>
              </a:rPr>
              <a:t>Identification of peak demand periods: </a:t>
            </a:r>
            <a:b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GB" i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(Notably 8–10 AM and 5–8 PM)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— Analysing usage trends to highlight critical time windows for system load.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GB" b="1" dirty="0">
                <a:latin typeface="Aharoni" panose="02010803020104030203" pitchFamily="2" charset="-79"/>
                <a:cs typeface="Aharoni" panose="02010803020104030203" pitchFamily="2" charset="-79"/>
              </a:rPr>
              <a:t>Assessment of infrastructure impact: 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Evaluating implications on server load, database performance, and overall system scalability during peak times.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GB" b="1" dirty="0">
                <a:latin typeface="Aharoni" panose="02010803020104030203" pitchFamily="2" charset="-79"/>
                <a:cs typeface="Aharoni" panose="02010803020104030203" pitchFamily="2" charset="-79"/>
              </a:rPr>
              <a:t>Proposed performance strategies </a:t>
            </a:r>
            <a:r>
              <a:rPr lang="en-GB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: 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Implementing techniques such as load balancing, caching, and queue management to ensure smooth and efficient operations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76A29CE-9499-F903-851E-3095957C8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  <p:pic>
        <p:nvPicPr>
          <p:cNvPr id="5" name="Picture 4" descr="A group of small cars parked in a row&#10;&#10;AI-generated content may be incorrect.">
            <a:extLst>
              <a:ext uri="{FF2B5EF4-FFF2-40B4-BE49-F238E27FC236}">
                <a16:creationId xmlns:a16="http://schemas.microsoft.com/office/drawing/2014/main" id="{BBF9283A-2AB8-6881-9374-2C208F33D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80" y="5095241"/>
            <a:ext cx="2631439" cy="1453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73996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5963-2A38-BFA5-5A7E-720E599B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878" y="78899"/>
            <a:ext cx="9875520" cy="1356360"/>
          </a:xfrm>
        </p:spPr>
        <p:txBody>
          <a:bodyPr>
            <a:normAutofit/>
          </a:bodyPr>
          <a:lstStyle/>
          <a:p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Revenue-Related Data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A6F09-9C3B-7EE2-F4AB-8E62214B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392433"/>
            <a:ext cx="6116320" cy="480837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Analysis of fare data and its relation to trip duration and time of day.  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  <a:effectLst/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Considerations for dynamic pricing algorithms or surge pricing features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  <a:effectLst/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Secure and efficient handling of payment data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  <a:effectLst/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Technical Considerations: </a:t>
            </a:r>
          </a:p>
          <a:p>
            <a:pPr marL="514350" lvl="1" indent="-285750"/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Implementation of fare calculation logic.</a:t>
            </a:r>
          </a:p>
          <a:p>
            <a:pPr lvl="1"/>
            <a:r>
              <a:rPr lang="en-IN" sz="2200" dirty="0">
                <a:solidFill>
                  <a:schemeClr val="accent4">
                    <a:lumMod val="75000"/>
                  </a:schemeClr>
                </a:solidFill>
                <a:effectLst/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Integration with payment gateways.</a:t>
            </a:r>
          </a:p>
          <a:p>
            <a:pPr lvl="1"/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Data security and compliance (e.g., PCI DSS).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A6EF4619-701D-9CFC-9A83-9A634AB9C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0403486-0CB8-CB5F-16B4-17FC45935DA7}"/>
              </a:ext>
            </a:extLst>
          </p:cNvPr>
          <p:cNvGrpSpPr/>
          <p:nvPr/>
        </p:nvGrpSpPr>
        <p:grpSpPr>
          <a:xfrm>
            <a:off x="7158001" y="1114902"/>
            <a:ext cx="4583356" cy="5274468"/>
            <a:chOff x="699671" y="1156745"/>
            <a:chExt cx="4583356" cy="527446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3D9178-6C72-F63E-66CD-5446C05BF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671" y="1156745"/>
              <a:ext cx="4583356" cy="1641765"/>
            </a:xfrm>
            <a:prstGeom prst="rect">
              <a:avLst/>
            </a:prstGeom>
            <a:ln w="12700" cap="sq">
              <a:solidFill>
                <a:schemeClr val="tx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4D3D2F7-9179-9A32-66E2-43DA14456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671" y="2899765"/>
              <a:ext cx="4583356" cy="1877400"/>
            </a:xfrm>
            <a:prstGeom prst="rect">
              <a:avLst/>
            </a:prstGeom>
            <a:ln w="12700" cap="sq">
              <a:solidFill>
                <a:schemeClr val="tx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043383-19E9-F751-A4BE-D66C347F3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9671" y="4878421"/>
              <a:ext cx="4583356" cy="1552792"/>
            </a:xfrm>
            <a:prstGeom prst="rect">
              <a:avLst/>
            </a:prstGeom>
            <a:ln w="12700" cap="sq">
              <a:solidFill>
                <a:schemeClr val="tx1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91873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9A6A-BB7C-FAC7-9342-EC9C6790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C41F0-374B-8982-4D1E-F49D6A4E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Geospatial Data and Analysis</a:t>
            </a:r>
            <a:br>
              <a:rPr lang="en-IN" sz="1800" kern="100" dirty="0">
                <a:effectLst/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</a:br>
            <a:endParaRPr lang="en-IN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F544BD-EE33-015E-E930-721EE5311A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593415"/>
            <a:ext cx="8240358" cy="471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Importance of location data (</a:t>
            </a:r>
            <a:r>
              <a:rPr lang="en-IN" sz="2200" dirty="0" err="1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loc_from</a:t>
            </a: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IN" sz="2200" dirty="0" err="1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loc_to</a:t>
            </a: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Assembly).   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Technical challenges and opportunities related to location accuracy, geocoding, and routing.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Analysis of high-performing zones and implications for service availability.  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Technical Considerations: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Use of mapping libraries and APIs.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Optimization of location-based queries.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Real-time location updates and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75A32C38-DAF5-9130-A1C9-EA90C052F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653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3CF3-C17C-2801-0F1A-C6E682C1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02D7-19D2-BBB7-CAB9-B69BC0EA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433" y="444198"/>
            <a:ext cx="9875520" cy="57180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User Behaviour - Feature Development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963CDC-E3CA-672C-E978-795448BE4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9087" y="1572026"/>
            <a:ext cx="10254212" cy="5861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Analysis of user interactions (searches, estimates, quotes, OTP).  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Insights into user behaviour and potential areas for feature improvement.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Emphasis on the impact of quote searches on trip completion.  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Technical Considerations: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Implementation of search and quote functionality.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User interface/user experience (UI/UX) considerations.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 logging and analytics for user behaviour tracking.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IN" sz="22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785FEBA0-FEDB-EC6F-460A-CD3606FA9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1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E586-A7DE-C82E-C83F-124A3F46B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200" dirty="0">
                <a:latin typeface="Aharoni" panose="02010803020104030203" pitchFamily="2" charset="-79"/>
                <a:cs typeface="Aharoni" panose="02010803020104030203" pitchFamily="2" charset="-79"/>
              </a:rPr>
              <a:t>Handling Cancellations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26AF9-6856-F940-65B8-9927DA1C7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19480"/>
            <a:ext cx="10058400" cy="4249613"/>
          </a:xfrm>
        </p:spPr>
        <p:txBody>
          <a:bodyPr>
            <a:noAutofit/>
          </a:bodyPr>
          <a:lstStyle/>
          <a:p>
            <a:pPr>
              <a:buNone/>
            </a:pPr>
            <a:endParaRPr lang="en-IN" dirty="0">
              <a:effectLst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Review of cancellation rates and their impact on the system.  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Technical strategies for reducing cancellations (e.g., real-time updates, communication features).  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Importance of cancellation reason tracking.   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Technical Considerations: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Implementation of cancellation mechanisms.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Notification systems and real-time updates.</a:t>
            </a:r>
          </a:p>
          <a:p>
            <a:pPr>
              <a:buNone/>
            </a:pPr>
            <a:r>
              <a:rPr lang="en-IN" kern="1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Data storage and analysis of cancellation reasons.</a:t>
            </a:r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BFE4548-1BE4-9F62-3333-3A4772DA3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56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FE9B-85EC-25C6-7225-3C3C7401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200" dirty="0">
                <a:latin typeface="Aharoni" panose="02010803020104030203" pitchFamily="2" charset="-79"/>
                <a:cs typeface="Aharoni" panose="02010803020104030203" pitchFamily="2" charset="-79"/>
              </a:rPr>
              <a:t>System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8512E-60A6-C7B4-2507-0B062D1DA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7594"/>
            <a:ext cx="10360262" cy="429080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IN" sz="2400" dirty="0"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Identifying key performance indicators (KPIs) (e.g., response time, error rates).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Strategies for monitoring, testing, and optimizing system performance.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Importance of scalability and reliability.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Technical Considerations: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Load testing and performance profiling.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Code optimization and refactoring.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Server infrastructure and resource management.</a:t>
            </a:r>
          </a:p>
          <a:p>
            <a:endParaRPr lang="en-IN" dirty="0"/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34202530-E5C1-A501-03AA-1256BD137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08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B50C-461A-2349-5B66-9F2F7667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94CC-2BDF-1F3A-6FB6-46C1BF3FA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200" dirty="0">
                <a:latin typeface="Aharoni" panose="02010803020104030203" pitchFamily="2" charset="-79"/>
                <a:cs typeface="Aharoni" panose="02010803020104030203" pitchFamily="2" charset="-79"/>
              </a:rPr>
              <a:t>API Design and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9B45-A132-6779-1F45-641C51F3D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7594"/>
            <a:ext cx="10360262" cy="4290806"/>
          </a:xfrm>
        </p:spPr>
        <p:txBody>
          <a:bodyPr>
            <a:normAutofit/>
          </a:bodyPr>
          <a:lstStyle/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Review of API endpoints and data exchange formats.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Security considerations for APIs.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Strategies for API versioning and documentation.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Technical Considerations: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API design principles (e.g., RESTful APIs).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Authentication and authorization.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 serialization and deserialization (e.g., JSON).</a:t>
            </a:r>
          </a:p>
          <a:p>
            <a:endParaRPr lang="en-IN" dirty="0"/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9DFBDDF7-7329-D9C5-A333-C2A50E55F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02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5F555-12D3-D85A-A234-DEB51D7E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4DDA-AD9F-3398-9A79-3DE756A7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200" dirty="0">
                <a:latin typeface="Aharoni" panose="02010803020104030203" pitchFamily="2" charset="-79"/>
                <a:cs typeface="Aharoni" panose="02010803020104030203" pitchFamily="2" charset="-79"/>
              </a:rPr>
              <a:t>Future Development-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78CF1-9A66-CA9C-D7EF-4603A20C5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7594"/>
            <a:ext cx="10360262" cy="4290806"/>
          </a:xfrm>
        </p:spPr>
        <p:txBody>
          <a:bodyPr>
            <a:normAutofit/>
          </a:bodyPr>
          <a:lstStyle/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Roadmap for implementing recommended features and optimizations.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Prioritization of development tasks.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Considerations for new technologies or architectural changes.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Discussion Points: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Microservices architecture.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Real-time data streaming.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IN" sz="2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Machine learning for predictive analysis.</a:t>
            </a:r>
          </a:p>
          <a:p>
            <a:endParaRPr lang="en-IN" dirty="0"/>
          </a:p>
        </p:txBody>
      </p:sp>
      <p:pic>
        <p:nvPicPr>
          <p:cNvPr id="4" name="Picture 3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84CDB9F2-47C3-5E6E-2C90-5683D12AC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03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D43C-E48B-C835-D069-DDAE4FE6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680" y="179624"/>
            <a:ext cx="10058400" cy="1111891"/>
          </a:xfrm>
        </p:spPr>
        <p:txBody>
          <a:bodyPr>
            <a:normAutofit/>
          </a:bodyPr>
          <a:lstStyle/>
          <a:p>
            <a:pPr algn="ctr"/>
            <a:r>
              <a:rPr lang="en-US" b="1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Power BI Dashboard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ADDA15-B9C4-0040-62D1-9CA41AE4D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83" t="24223" r="22583" b="16889"/>
          <a:stretch/>
        </p:blipFill>
        <p:spPr>
          <a:xfrm>
            <a:off x="609600" y="1166431"/>
            <a:ext cx="10972800" cy="5318905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647962B-92AC-8C61-437B-2381ED308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57" y="78899"/>
            <a:ext cx="969963" cy="96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11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en-US" sz="4800" i="1" dirty="0">
                <a:solidFill>
                  <a:srgbClr val="FFFFFF"/>
                </a:solidFill>
              </a:rPr>
            </a:br>
            <a:br>
              <a:rPr lang="en-US" sz="4800" i="1" dirty="0">
                <a:solidFill>
                  <a:srgbClr val="FFFFFF"/>
                </a:solidFill>
              </a:rPr>
            </a:br>
            <a:br>
              <a:rPr lang="en-US" sz="4800" i="1" dirty="0">
                <a:solidFill>
                  <a:srgbClr val="FFFFFF"/>
                </a:solidFill>
              </a:rPr>
            </a:br>
            <a:br>
              <a:rPr lang="en-US" sz="4800" i="1" dirty="0">
                <a:solidFill>
                  <a:srgbClr val="FFFFFF"/>
                </a:solidFill>
              </a:rPr>
            </a:br>
            <a:r>
              <a:rPr lang="en-US" sz="4800" i="1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 You</a:t>
            </a:r>
            <a:br>
              <a:rPr lang="en-US" sz="4800" i="1" dirty="0">
                <a:solidFill>
                  <a:srgbClr val="FFFFFF"/>
                </a:solidFill>
              </a:rPr>
            </a:br>
            <a:br>
              <a:rPr lang="en-IN" sz="1100" dirty="0"/>
            </a:br>
            <a:br>
              <a:rPr lang="en-US" sz="4800" i="1" dirty="0">
                <a:solidFill>
                  <a:srgbClr val="FFFFFF"/>
                </a:solidFill>
              </a:rPr>
            </a:br>
            <a:br>
              <a:rPr lang="en-US" sz="4800" i="1" dirty="0">
                <a:solidFill>
                  <a:srgbClr val="FFFFFF"/>
                </a:solidFill>
              </a:rPr>
            </a:br>
            <a:r>
              <a:rPr lang="en-US" sz="4800" i="1" dirty="0">
                <a:solidFill>
                  <a:srgbClr val="FFFFFF"/>
                </a:solidFill>
              </a:rPr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</TotalTime>
  <Words>810</Words>
  <Application>Microsoft Office PowerPoint</Application>
  <PresentationFormat>Widescreen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Aharoni</vt:lpstr>
      <vt:lpstr>-apple-system</vt:lpstr>
      <vt:lpstr>Arial</vt:lpstr>
      <vt:lpstr>Corbel</vt:lpstr>
      <vt:lpstr>Wingdings</vt:lpstr>
      <vt:lpstr>Basis</vt:lpstr>
      <vt:lpstr>Namma Yatri data analysis -Data-Driven insight &amp; strategic recommendations </vt:lpstr>
      <vt:lpstr>About Namma -Yatri </vt:lpstr>
      <vt:lpstr>Purpose and Goals</vt:lpstr>
      <vt:lpstr>Purpose and Goals</vt:lpstr>
      <vt:lpstr> Data Integration and Structure </vt:lpstr>
      <vt:lpstr> Handling Peak Demand</vt:lpstr>
      <vt:lpstr>Revenue-Related Data Points</vt:lpstr>
      <vt:lpstr> Geospatial Data and Analysis </vt:lpstr>
      <vt:lpstr> User Behaviour - Feature Development</vt:lpstr>
      <vt:lpstr>Handling Cancellations</vt:lpstr>
      <vt:lpstr>System Performance</vt:lpstr>
      <vt:lpstr>API Design and Integration</vt:lpstr>
      <vt:lpstr>Future Development- Next Steps</vt:lpstr>
      <vt:lpstr>Power BI Dashboard</vt:lpstr>
      <vt:lpstr>    Thank You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Kavita Azad</dc:creator>
  <cp:lastModifiedBy>srushti keskar</cp:lastModifiedBy>
  <cp:revision>142</cp:revision>
  <dcterms:created xsi:type="dcterms:W3CDTF">2025-04-15T13:39:37Z</dcterms:created>
  <dcterms:modified xsi:type="dcterms:W3CDTF">2025-05-22T15:05:51Z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